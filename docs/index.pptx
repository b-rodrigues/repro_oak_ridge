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4" Type="http://schemas.openxmlformats.org/officeDocument/2006/relationships/viewProps" Target="viewProps.xml" /><Relationship Id="rId2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6" Type="http://schemas.openxmlformats.org/officeDocument/2006/relationships/tableStyles" Target="tableStyles.xml" /><Relationship Id="rId2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-rodrigues.github.io/repro_oak_ridge" TargetMode="External" /><Relationship Id="rId3" Type="http://schemas.openxmlformats.org/officeDocument/2006/relationships/hyperlink" Target="https://github.com/b-rodrigues/repro_oak_ridg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cs.ropensci.org/rix/articles/" TargetMode="Externa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_paper/tree/master" TargetMode="Externa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b-rodrigues/rixpress" TargetMode="External" /><Relationship Id="rId3" Type="http://schemas.openxmlformats.org/officeDocument/2006/relationships/hyperlink" Target="https://b-rodrigues.github.io/rixpress/" TargetMode="External" /><Relationship Id="rId4" Type="http://schemas.openxmlformats.org/officeDocument/2006/relationships/hyperlink" Target="https://github.com/b-rodrigues/rixpress_demos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x.com/brodriguesco" TargetMode="External" /><Relationship Id="rId3" Type="http://schemas.openxmlformats.org/officeDocument/2006/relationships/hyperlink" Target="https://fosstodon.org/@brodriguesco" TargetMode="External" /><Relationship Id="rId4" Type="http://schemas.openxmlformats.org/officeDocument/2006/relationships/hyperlink" Target="https://brodrigues.co/" TargetMode="External" /><Relationship Id="rId5" Type="http://schemas.openxmlformats.org/officeDocument/2006/relationships/hyperlink" Target="https://raps-with-r.dev/" TargetMode="External" /><Relationship Id="rId6" Type="http://schemas.openxmlformats.org/officeDocument/2006/relationships/hyperlink" Target="https://docs.ropensci.org/rix" TargetMode="External" /><Relationship Id="rId7" Type="http://schemas.openxmlformats.org/officeDocument/2006/relationships/hyperlink" Target="https://b-rodrigues.github.io/rix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Reproducible data science environments with {rix}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Bruno Rodrigues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Who am 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Bruno Rodrigues, head of the statistics department at the Ministry of Research and Higher Education in Luxembourg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Luxembourg?</a:t>
            </a:r>
          </a:p>
        </p:txBody>
      </p:sp>
      <p:pic>
        <p:nvPicPr>
          <p:cNvPr descr="img/luxembour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97000"/>
            <a:ext cx="82296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Intro: where to find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Slides available online: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https://b-rodrigues.github.io/repro_oak_ridge</a:t>
            </a:r>
          </a:p>
          <a:p>
            <a:pPr lvl="0" indent="0" marL="0">
              <a:buNone/>
            </a:pPr>
            <a:r>
              <a:rPr/>
              <a:t>Code available here:</a:t>
            </a:r>
          </a:p>
          <a:p>
            <a:pPr lvl="0" indent="0" marL="0">
              <a:buNone/>
            </a:pPr>
            <a:r>
              <a:rPr>
                <a:hlinkClick r:id="rId3"/>
              </a:rPr>
              <a:t>https://github.com/b-rodrigues/repro_oak_ridge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you know:</a:t>
            </a:r>
          </a:p>
        </p:txBody>
      </p:sp>
      <p:pic>
        <p:nvPicPr>
          <p:cNvPr descr="img/repro_puzz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203200"/>
            <a:ext cx="4394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I’ll be talking about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puzzle with Nix:</a:t>
            </a:r>
          </a:p>
        </p:txBody>
      </p:sp>
      <p:pic>
        <p:nvPicPr>
          <p:cNvPr descr="img/repro_puzzle_nix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24300" y="203200"/>
            <a:ext cx="4394200" cy="438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Available solutions for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{renv}</a:t>
            </a:r>
            <a:r>
              <a:rPr/>
              <a:t> or </a:t>
            </a:r>
            <a:r>
              <a:rPr>
                <a:latin typeface="Courier"/>
              </a:rPr>
              <a:t>{groundhog}</a:t>
            </a:r>
            <a:r>
              <a:rPr/>
              <a:t>: simple to use, but:</a:t>
            </a:r>
          </a:p>
          <a:p>
            <a:pPr lvl="1"/>
            <a:r>
              <a:rPr/>
              <a:t>Doesn’t save the R version</a:t>
            </a:r>
          </a:p>
          <a:p>
            <a:pPr lvl="1"/>
            <a:r>
              <a:rPr/>
              <a:t>Installing old packages may fail (system dependencies)</a:t>
            </a:r>
          </a:p>
          <a:p>
            <a:pPr lvl="0"/>
            <a:r>
              <a:rPr/>
              <a:t>Docker goes further:</a:t>
            </a:r>
          </a:p>
          <a:p>
            <a:pPr lvl="1"/>
            <a:r>
              <a:rPr/>
              <a:t>Manages R </a:t>
            </a:r>
            <a:r>
              <a:rPr i="1"/>
              <a:t>and</a:t>
            </a:r>
            <a:r>
              <a:rPr/>
              <a:t> system dependencies</a:t>
            </a:r>
          </a:p>
          <a:p>
            <a:pPr lvl="1"/>
            <a:r>
              <a:rPr/>
              <a:t>Containers executable anywhere</a:t>
            </a:r>
          </a:p>
          <a:p>
            <a:pPr lvl="0"/>
            <a:r>
              <a:rPr/>
              <a:t>But:</a:t>
            </a:r>
          </a:p>
          <a:p>
            <a:pPr lvl="1"/>
            <a:r>
              <a:rPr/>
              <a:t>Not inherently reproducible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Nix package manager (1/2)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Package manager: tool for installing and managing </a:t>
            </a:r>
            <a:r>
              <a:rPr i="1"/>
              <a:t>packages</a:t>
            </a:r>
          </a:p>
          <a:p>
            <a:pPr lvl="0" indent="0" marL="0">
              <a:buNone/>
            </a:pPr>
            <a:r>
              <a:rPr/>
              <a:t>Package: any software (not just R packages)</a:t>
            </a:r>
          </a:p>
          <a:p>
            <a:pPr lvl="0" indent="0" marL="0">
              <a:buNone/>
            </a:pPr>
            <a:r>
              <a:rPr/>
              <a:t>A popular package manager:</a:t>
            </a:r>
          </a:p>
          <a:p>
            <a:pPr lvl="0" indent="0" marL="0">
              <a:buNone/>
            </a:pPr>
            <a:r>
              <a:rPr/>
              <a:t>. . .</a:t>
            </a:r>
          </a:p>
        </p:txBody>
      </p:sp>
      <p:pic>
        <p:nvPicPr>
          <p:cNvPr descr="img/play_sto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45100" y="203200"/>
            <a:ext cx="17399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Google Play Store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Nix package manager (2/2)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ensure reproducibility: R, R packages, and other dependencies must be explicitly managed</a:t>
            </a:r>
          </a:p>
          <a:p>
            <a:pPr lvl="0"/>
            <a:r>
              <a:rPr/>
              <a:t>Nix is a package manager truly focused on reproducible builds</a:t>
            </a:r>
          </a:p>
          <a:p>
            <a:pPr lvl="0"/>
            <a:r>
              <a:rPr/>
              <a:t>Nix manages everything using a single text file (called a Nix expression)!</a:t>
            </a:r>
          </a:p>
          <a:p>
            <a:pPr lvl="0"/>
            <a:r>
              <a:rPr/>
              <a:t>These expressions </a:t>
            </a:r>
            <a:r>
              <a:rPr i="1"/>
              <a:t>always</a:t>
            </a:r>
            <a:r>
              <a:rPr/>
              <a:t> produce exactly the same result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(1/5)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{rix}</a:t>
            </a:r>
            <a:r>
              <a:rPr/>
              <a:t> (</a:t>
            </a:r>
            <a:r>
              <a:rPr>
                <a:hlinkClick r:id="rId2"/>
              </a:rPr>
              <a:t>website</a:t>
            </a:r>
            <a:r>
              <a:rPr/>
              <a:t>) simplifies writing Nix expressions!</a:t>
            </a:r>
          </a:p>
          <a:p>
            <a:pPr lvl="0"/>
            <a:r>
              <a:rPr/>
              <a:t>Just use the provided </a:t>
            </a:r>
            <a:r>
              <a:rPr>
                <a:latin typeface="Courier"/>
              </a:rPr>
              <a:t>rix()</a:t>
            </a:r>
            <a:r>
              <a:rPr/>
              <a:t> function: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"2025-06-13"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system_pkgs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git_pkgs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tex_pkgs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NULL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(2/5)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renv.lock</a:t>
            </a:r>
            <a:r>
              <a:rPr/>
              <a:t> files can also serve as a starting point: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(rix)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renv2nix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renv_lock_path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"path/to/original/renv_project/renv.lock"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"path/to/rix_project"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override_r_ver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"4.4.1"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&lt;- optional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(3/5)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List the R version and required packages</a:t>
            </a:r>
          </a:p>
          <a:p>
            <a:pPr lvl="0"/>
            <a:r>
              <a:rPr/>
              <a:t>Optionally:</a:t>
            </a:r>
          </a:p>
          <a:p>
            <a:pPr lvl="1"/>
            <a:r>
              <a:rPr/>
              <a:t>system packages, GitHub packages, or LaTeX packages</a:t>
            </a:r>
          </a:p>
          <a:p>
            <a:pPr lvl="1"/>
            <a:r>
              <a:rPr/>
              <a:t>an IDE (RStudio, Radian, VS Code, or “other”)</a:t>
            </a:r>
          </a:p>
          <a:p>
            <a:pPr lvl="1"/>
            <a:r>
              <a:rPr/>
              <a:t>a version of Python and Python packages to include</a:t>
            </a:r>
          </a:p>
          <a:p>
            <a:pPr lvl="1"/>
            <a:r>
              <a:rPr/>
              <a:t>a version of Julia and Julia packages to include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(4/5)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rix::rix()</a:t>
            </a:r>
            <a:r>
              <a:rPr/>
              <a:t> generates a </a:t>
            </a:r>
            <a:r>
              <a:rPr>
                <a:latin typeface="Courier"/>
              </a:rPr>
              <a:t>default.nix</a:t>
            </a:r>
            <a:r>
              <a:rPr/>
              <a:t> file</a:t>
            </a:r>
          </a:p>
          <a:p>
            <a:pPr lvl="0"/>
            <a:r>
              <a:rPr/>
              <a:t>Build the expressions with </a:t>
            </a:r>
            <a:r>
              <a:rPr>
                <a:latin typeface="Courier"/>
              </a:rPr>
              <a:t>nix-build</a:t>
            </a:r>
            <a:r>
              <a:rPr/>
              <a:t> (in terminal) or </a:t>
            </a:r>
            <a:r>
              <a:rPr>
                <a:latin typeface="Courier"/>
              </a:rPr>
              <a:t>rix::nix_build()</a:t>
            </a:r>
            <a:r>
              <a:rPr/>
              <a:t> from R</a:t>
            </a:r>
          </a:p>
          <a:p>
            <a:pPr lvl="0"/>
            <a:r>
              <a:rPr/>
              <a:t>Access the development environment with </a:t>
            </a:r>
            <a:r>
              <a:rPr>
                <a:latin typeface="Courier"/>
              </a:rPr>
              <a:t>nix-shell</a:t>
            </a:r>
          </a:p>
          <a:p>
            <a:pPr lvl="0"/>
            <a:r>
              <a:rPr/>
              <a:t>Expressions can be generated even without Nix installed (with some limitations)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rix: reproducible development environments with Nix (5/5)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Can install specific versions of packages (write </a:t>
            </a:r>
            <a:r>
              <a:rPr>
                <a:latin typeface="Courier"/>
              </a:rPr>
              <a:t>"dplyr@1.0.0"</a:t>
            </a:r>
            <a:r>
              <a:rPr/>
              <a:t>)</a:t>
            </a:r>
          </a:p>
          <a:p>
            <a:pPr lvl="0"/>
            <a:r>
              <a:rPr/>
              <a:t>Can install packages hosted on GitHub</a:t>
            </a:r>
          </a:p>
          <a:p>
            <a:pPr lvl="0"/>
            <a:r>
              <a:rPr/>
              <a:t>Many vignettes to get started!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environments with rix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rix()</a:t>
            </a:r>
            <a:r>
              <a:rPr/>
              <a:t> supports Python and Julia alongside R: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rix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"2025-06-09"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"dplyr"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"ggplot2"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"languageserver"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py_conf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py_version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"3.13"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657422"/>
                </a:solidFill>
                <a:latin typeface="Courier"/>
              </a:rPr>
              <a:t>py_pkgs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"polars"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"scikit-learn"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ide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project_path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"."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overwrite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Julia: use </a:t>
            </a:r>
            <a:r>
              <a:rPr>
                <a:latin typeface="Courier"/>
              </a:rPr>
              <a:t>jl_conf = list(jl_version = "1.10", jl_pkgs = c(...))</a:t>
            </a:r>
          </a:p>
          <a:p>
            <a:pPr lvl="0"/>
            <a:r>
              <a:rPr/>
              <a:t>See: </a:t>
            </a:r>
            <a:r>
              <a:rPr>
                <a:latin typeface="Courier"/>
              </a:rPr>
              <a:t>scripts/nix_expressions/02_native_positron_example/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Basics: </a:t>
            </a:r>
            <a:r>
              <a:rPr>
                <a:latin typeface="Courier"/>
              </a:rPr>
              <a:t>scripts/nix_expressions/01_rix_intro/</a:t>
            </a:r>
          </a:p>
          <a:p>
            <a:pPr lvl="0"/>
            <a:r>
              <a:rPr/>
              <a:t>Native VS Code/Positron on Windows: </a:t>
            </a:r>
            <a:r>
              <a:rPr>
                <a:latin typeface="Courier"/>
              </a:rPr>
              <a:t>scripts/nix_expressions/02_native_positron_example/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{targets}</a:t>
            </a:r>
            <a:r>
              <a:rPr/>
              <a:t>: </a:t>
            </a:r>
            <a:r>
              <a:rPr>
                <a:latin typeface="Courier"/>
              </a:rPr>
              <a:t>scripts/nix_expressions/03_nix_targets_pipeline</a:t>
            </a:r>
          </a:p>
          <a:p>
            <a:pPr lvl="0"/>
            <a:r>
              <a:rPr/>
              <a:t>Nix and Docker: </a:t>
            </a:r>
            <a:r>
              <a:rPr>
                <a:latin typeface="Courier"/>
              </a:rPr>
              <a:t>scripts/nix_expressions/04_docker/</a:t>
            </a:r>
          </a:p>
          <a:p>
            <a:pPr lvl="0"/>
            <a:r>
              <a:rPr/>
              <a:t>Nix and </a:t>
            </a:r>
            <a:r>
              <a:rPr>
                <a:latin typeface="Courier"/>
              </a:rPr>
              <a:t>{shiny}</a:t>
            </a:r>
            <a:r>
              <a:rPr/>
              <a:t>: </a:t>
            </a:r>
            <a:r>
              <a:rPr>
                <a:latin typeface="Courier"/>
              </a:rPr>
              <a:t>scripts/nix_expressions/05_shiny</a:t>
            </a:r>
          </a:p>
          <a:p>
            <a:pPr lvl="0"/>
            <a:r>
              <a:rPr/>
              <a:t>GitHub Actions: </a:t>
            </a:r>
            <a:r>
              <a:rPr>
                <a:hlinkClick r:id="rId2"/>
              </a:rPr>
              <a:t>see here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Polyglot pipelines with </a:t>
            </a:r>
            <a:r>
              <a:rPr>
                <a:latin typeface="Courier"/>
              </a:rPr>
              <a:t>{rixpress}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{rixpress}</a:t>
            </a:r>
            <a:r>
              <a:rPr/>
              <a:t> allows chaining processing steps in R </a:t>
            </a:r>
            <a:r>
              <a:rPr b="1"/>
              <a:t>and</a:t>
            </a:r>
            <a:r>
              <a:rPr/>
              <a:t> Python</a:t>
            </a:r>
          </a:p>
          <a:p>
            <a:pPr lvl="0"/>
            <a:r>
              <a:rPr/>
              <a:t>Uses </a:t>
            </a:r>
            <a:r>
              <a:rPr>
                <a:latin typeface="Courier"/>
              </a:rPr>
              <a:t>{rix}</a:t>
            </a:r>
            <a:r>
              <a:rPr/>
              <a:t> to create a reproducible (via Nix) execution environment for the pipeline</a:t>
            </a:r>
          </a:p>
          <a:p>
            <a:pPr lvl="0"/>
            <a:r>
              <a:rPr/>
              <a:t>Each pipeline step is a </a:t>
            </a:r>
            <a:r>
              <a:rPr b="1"/>
              <a:t>Nix derivation</a:t>
            </a:r>
          </a:p>
          <a:p>
            <a:pPr lvl="0"/>
            <a:r>
              <a:rPr/>
              <a:t>Data transfer: automatic via </a:t>
            </a:r>
            <a:r>
              <a:rPr>
                <a:latin typeface="Courier"/>
              </a:rPr>
              <a:t>reticulate</a:t>
            </a:r>
            <a:r>
              <a:rPr/>
              <a:t> or universal format (JSON)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 example of a polyglot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rxp_py_file</a:t>
            </a:r>
            <a:r>
              <a:rPr>
                <a:solidFill>
                  <a:srgbClr val="003B4F"/>
                </a:solidFill>
                <a:latin typeface="Courier"/>
              </a:rPr>
              <a:t>(…),    </a:t>
            </a:r>
            <a:r>
              <a:rPr>
                <a:solidFill>
                  <a:srgbClr val="5E5E5E"/>
                </a:solidFill>
                <a:latin typeface="Courier"/>
              </a:rPr>
              <a:t># Read a CSV with Python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Filter with Polars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Python → R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(…),          </a:t>
            </a:r>
            <a:r>
              <a:rPr>
                <a:solidFill>
                  <a:srgbClr val="5E5E5E"/>
                </a:solidFill>
                <a:latin typeface="Courier"/>
              </a:rPr>
              <a:t># Transformation in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rxp_r2py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R → Python transfer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</a:t>
            </a:r>
            <a:r>
              <a:rPr>
                <a:solidFill>
                  <a:srgbClr val="003B4F"/>
                </a:solidFill>
                <a:latin typeface="Courier"/>
              </a:rPr>
              <a:t>(…),         </a:t>
            </a:r>
            <a:r>
              <a:rPr>
                <a:solidFill>
                  <a:srgbClr val="5E5E5E"/>
                </a:solidFill>
                <a:latin typeface="Courier"/>
              </a:rPr>
              <a:t># Another Python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rxp_py2r</a:t>
            </a:r>
            <a:r>
              <a:rPr>
                <a:solidFill>
                  <a:srgbClr val="003B4F"/>
                </a:solidFill>
                <a:latin typeface="Courier"/>
              </a:rPr>
              <a:t>(…),       </a:t>
            </a:r>
            <a:r>
              <a:rPr>
                <a:solidFill>
                  <a:srgbClr val="5E5E5E"/>
                </a:solidFill>
                <a:latin typeface="Courier"/>
              </a:rPr>
              <a:t># Back to 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rxp_r</a:t>
            </a:r>
            <a:r>
              <a:rPr>
                <a:solidFill>
                  <a:srgbClr val="003B4F"/>
                </a:solidFill>
                <a:latin typeface="Courier"/>
              </a:rPr>
              <a:t>(…)           </a:t>
            </a:r>
            <a:r>
              <a:rPr>
                <a:solidFill>
                  <a:srgbClr val="5E5E5E"/>
                </a:solidFill>
                <a:latin typeface="Courier"/>
              </a:rPr>
              <a:t># Final step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|&gt;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rixpress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/>
            <a:r>
              <a:rPr/>
              <a:t>Each step is named and typed (</a:t>
            </a:r>
            <a:r>
              <a:rPr>
                <a:latin typeface="Courier"/>
              </a:rPr>
              <a:t>py</a:t>
            </a:r>
            <a:r>
              <a:rPr/>
              <a:t>, </a:t>
            </a:r>
            <a:r>
              <a:rPr>
                <a:latin typeface="Courier"/>
              </a:rPr>
              <a:t>r</a:t>
            </a:r>
            <a:r>
              <a:rPr/>
              <a:t>, </a:t>
            </a:r>
            <a:r>
              <a:rPr>
                <a:latin typeface="Courier"/>
              </a:rPr>
              <a:t>r2py</a:t>
            </a:r>
            <a:r>
              <a:rPr/>
              <a:t>, etc.)</a:t>
            </a:r>
          </a:p>
          <a:p>
            <a:pPr lvl="0"/>
            <a:r>
              <a:rPr/>
              <a:t>Ability to add files (</a:t>
            </a:r>
            <a:r>
              <a:rPr>
                <a:latin typeface="Courier"/>
              </a:rPr>
              <a:t>functions.R</a:t>
            </a:r>
            <a:r>
              <a:rPr/>
              <a:t>, images…)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 learn more about rixpress: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GitHub Repository</a:t>
            </a:r>
          </a:p>
          <a:p>
            <a:pPr lvl="0"/>
            <a:r>
              <a:rPr>
                <a:hlinkClick r:id="rId3"/>
              </a:rPr>
              <a:t>Website</a:t>
            </a:r>
          </a:p>
          <a:p>
            <a:pPr lvl="0"/>
            <a:r>
              <a:rPr>
                <a:hlinkClick r:id="rId4"/>
              </a:rPr>
              <a:t>Repository of demos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Contact me if you have questions:</a:t>
            </a:r>
          </a:p>
          <a:p>
            <a:pPr lvl="0"/>
            <a:r>
              <a:rPr/>
              <a:t>bruno@brodrigues.co</a:t>
            </a:r>
          </a:p>
          <a:p>
            <a:pPr lvl="0"/>
            <a:r>
              <a:rPr/>
              <a:t>Twitter: </a:t>
            </a:r>
            <a:r>
              <a:rPr>
                <a:hlinkClick r:id="rId2"/>
              </a:rPr>
              <a:t>@brodriguesco</a:t>
            </a:r>
          </a:p>
          <a:p>
            <a:pPr lvl="0"/>
            <a:r>
              <a:rPr/>
              <a:t>Mastodon: </a:t>
            </a:r>
            <a:r>
              <a:rPr>
                <a:hlinkClick r:id="rId3"/>
              </a:rPr>
              <a:t>@brodriguesco@fosstodon.org</a:t>
            </a:r>
          </a:p>
          <a:p>
            <a:pPr lvl="0"/>
            <a:r>
              <a:rPr/>
              <a:t>Blog: </a:t>
            </a:r>
            <a:r>
              <a:rPr>
                <a:hlinkClick r:id="rId4"/>
              </a:rPr>
              <a:t>www.brodrigues.co</a:t>
            </a:r>
          </a:p>
          <a:p>
            <a:pPr lvl="0"/>
            <a:r>
              <a:rPr/>
              <a:t>Book: </a:t>
            </a:r>
            <a:r>
              <a:rPr>
                <a:hlinkClick r:id="rId5"/>
              </a:rPr>
              <a:t>www.raps-with-r.dev</a:t>
            </a:r>
          </a:p>
          <a:p>
            <a:pPr lvl="0"/>
            <a:r>
              <a:rPr/>
              <a:t>rix: </a:t>
            </a:r>
            <a:r>
              <a:rPr>
                <a:hlinkClick r:id="rId6"/>
              </a:rPr>
              <a:t>https://docs.ropensci.org/rix</a:t>
            </a:r>
          </a:p>
          <a:p>
            <a:pPr lvl="0"/>
            <a:r>
              <a:rPr/>
              <a:t>rixpress: </a:t>
            </a:r>
            <a:r>
              <a:rPr>
                <a:hlinkClick r:id="rId7"/>
              </a:rPr>
              <a:t>https://b-rodrigues.github.io/rixpress/</a:t>
            </a:r>
          </a:p>
          <a:p>
            <a:pPr lvl="0" indent="0" marL="0">
              <a:buNone/>
            </a:pPr>
            <a:r>
              <a:rPr/>
              <a:t>. . .</a:t>
            </a:r>
          </a:p>
          <a:p>
            <a:pPr lvl="0" indent="0" marL="0">
              <a:buNone/>
            </a:pPr>
            <a:r>
              <a:rPr/>
              <a:t>Thanks!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Reproducible data science environments with {rix}</dc:title>
  <dc:creator>Bruno Rodrigues</dc:creator>
  <cp:keywords/>
  <dcterms:created xsi:type="dcterms:W3CDTF">1980-01-01T00:00:00Z</dcterms:created>
  <dcterms:modified xsi:type="dcterms:W3CDTF">1980-01-01T00:00:00Z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xecute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